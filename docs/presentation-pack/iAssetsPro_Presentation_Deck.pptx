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C99A"/>
                </a:solidFill>
              </a:defRPr>
            </a:pPr>
            <a:r>
              <a:t>iAssetsPro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Enterprise Asset Management System</a:t>
            </a:r>
          </a:p>
          <a:p>
            <a:pPr>
              <a:defRPr sz="1900">
                <a:solidFill>
                  <a:srgbClr val="C7D6D0"/>
                </a:solidFill>
              </a:defRPr>
            </a:pPr>
            <a:r>
              <a:t>Asset hierarchy • Repairs maintenance • Preventive maintenance</a:t>
            </a:r>
          </a:p>
        </p:txBody>
      </p:sp>
      <p:pic>
        <p:nvPicPr>
          <p:cNvPr id="5" name="Picture 4" descr="03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743200"/>
            <a:ext cx="438912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971800"/>
            <a:ext cx="475488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8F1ED"/>
                </a:solidFill>
                <a:latin typeface="Aptos"/>
              </a:defRPr>
            </a:pPr>
            <a:r>
              <a:t>Illustrated system presentation</a:t>
            </a:r>
          </a:p>
          <a:p>
            <a:pPr>
              <a:spcAft>
                <a:spcPts val="1000"/>
              </a:spcAft>
              <a:defRPr sz="1600">
                <a:solidFill>
                  <a:srgbClr val="E8F1ED"/>
                </a:solidFill>
                <a:latin typeface="Aptos"/>
              </a:defRPr>
            </a:pPr>
            <a:r>
              <a:t>Production-validated workflows</a:t>
            </a:r>
          </a:p>
          <a:p>
            <a:pPr>
              <a:spcAft>
                <a:spcPts val="1000"/>
              </a:spcAft>
              <a:defRPr sz="1600">
                <a:solidFill>
                  <a:srgbClr val="E8F1ED"/>
                </a:solidFill>
                <a:latin typeface="Aptos"/>
              </a:defRPr>
            </a:pPr>
            <a:r>
              <a:t>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What iAssetsPro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B7A"/>
                </a:solidFill>
                <a:latin typeface="Aptos"/>
              </a:defRPr>
            </a:pPr>
            <a:r>
              <a:t>One connected record from physical asset to maintenance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752600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Asset master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64080" y="228600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28672" y="1828800"/>
            <a:ext cx="1752600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51A20"/>
                </a:solidFill>
              </a:defRPr>
            </a:pPr>
            <a:r>
              <a:t>Engineering hierarchy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81272" y="228600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45864" y="1828800"/>
            <a:ext cx="1752600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Repairs / RWOP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98464" y="228600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63056" y="1828800"/>
            <a:ext cx="1752600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Materials &amp; tools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15656" y="2286000"/>
            <a:ext cx="164591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80247" y="1828800"/>
            <a:ext cx="1752600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PM schedules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32847" y="228600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97440" y="1828800"/>
            <a:ext cx="1752600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Analytics &amp;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1042416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1A20"/>
                </a:solidFill>
                <a:latin typeface="Aptos"/>
              </a:defRPr>
            </a:pPr>
            <a:r>
              <a:t>Plant/department-aware asset register</a:t>
            </a:r>
          </a:p>
          <a:p>
            <a:pPr>
              <a:spcAft>
                <a:spcPts val="1000"/>
              </a:spcAft>
              <a:defRPr sz="1600">
                <a:solidFill>
                  <a:srgbClr val="151A20"/>
                </a:solidFill>
                <a:latin typeface="Aptos"/>
              </a:defRPr>
            </a:pPr>
            <a:r>
              <a:t>Machine → assembly → subassembly → component → part</a:t>
            </a:r>
          </a:p>
          <a:p>
            <a:pPr>
              <a:spcAft>
                <a:spcPts val="1000"/>
              </a:spcAft>
              <a:defRPr sz="1600">
                <a:solidFill>
                  <a:srgbClr val="151A20"/>
                </a:solidFill>
                <a:latin typeface="Aptos"/>
              </a:defRPr>
            </a:pPr>
            <a:r>
              <a:t>Corrective and preventive work share one governed work-order engine</a:t>
            </a:r>
          </a:p>
          <a:p>
            <a:pPr>
              <a:spcAft>
                <a:spcPts val="1000"/>
              </a:spcAft>
              <a:defRPr sz="1600">
                <a:solidFill>
                  <a:srgbClr val="151A20"/>
                </a:solidFill>
                <a:latin typeface="Aptos"/>
              </a:defRPr>
            </a:pPr>
            <a:r>
              <a:t>Condition-aware stock/tool custody prevents false availability</a:t>
            </a:r>
          </a:p>
          <a:p>
            <a:pPr>
              <a:spcAft>
                <a:spcPts val="1000"/>
              </a:spcAft>
              <a:defRPr sz="1600">
                <a:solidFill>
                  <a:srgbClr val="151A20"/>
                </a:solidFill>
                <a:latin typeface="Aptos"/>
              </a:defRPr>
            </a:pPr>
            <a:r>
              <a:t>RBAC, auditability and operational KPIs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System access and role-based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B7A"/>
                </a:solidFill>
                <a:latin typeface="Aptos"/>
              </a:defRPr>
            </a:pPr>
            <a:r>
              <a:t>Dashboard view used to enter specialist maintenance modules</a:t>
            </a:r>
          </a:p>
        </p:txBody>
      </p:sp>
      <p:pic>
        <p:nvPicPr>
          <p:cNvPr id="5" name="Picture 4" descr="03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411" y="1143000"/>
            <a:ext cx="7210697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Create the parent machine / asset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B7A"/>
                </a:solidFill>
                <a:latin typeface="Aptos"/>
              </a:defRPr>
            </a:pPr>
            <a:r>
              <a:t>The asset master anchors engineering identity, ownership, criticality and lifecycle</a:t>
            </a:r>
          </a:p>
        </p:txBody>
      </p:sp>
      <p:pic>
        <p:nvPicPr>
          <p:cNvPr id="5" name="Picture 4" descr="05-add-asset-modal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411" y="1143000"/>
            <a:ext cx="7210697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Commission the maintainable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B7A"/>
                </a:solidFill>
                <a:latin typeface="Aptos"/>
              </a:defRPr>
            </a:pPr>
            <a:r>
              <a:t>Every child remains linked to its parent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2136038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MACHINE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47518" y="228600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12110" y="1828800"/>
            <a:ext cx="2136038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ASSEMBLY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8148" y="228600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12740" y="1828800"/>
            <a:ext cx="2136038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SUBASSEMBLY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48779" y="228600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3371" y="1828800"/>
            <a:ext cx="2136038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COMPONENT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49409" y="228600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14001" y="1828800"/>
            <a:ext cx="2136038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PART / SUB-PART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1005840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A20"/>
                </a:solidFill>
                <a:latin typeface="Aptos"/>
              </a:defRPr>
            </a:pPr>
            <a:r>
              <a:t>Example: Rotary Printing Machine 01</a:t>
            </a:r>
          </a:p>
          <a:p>
            <a:pPr>
              <a:spcAft>
                <a:spcPts val="1000"/>
              </a:spcAft>
              <a:defRPr sz="1800">
                <a:solidFill>
                  <a:srgbClr val="151A20"/>
                </a:solidFill>
                <a:latin typeface="Aptos"/>
              </a:defRPr>
            </a:pPr>
            <a:r>
              <a:t>Main Drive Assembly</a:t>
            </a:r>
          </a:p>
          <a:p>
            <a:pPr>
              <a:spcAft>
                <a:spcPts val="1000"/>
              </a:spcAft>
              <a:defRPr sz="1800">
                <a:solidFill>
                  <a:srgbClr val="151A20"/>
                </a:solidFill>
                <a:latin typeface="Aptos"/>
              </a:defRPr>
            </a:pPr>
            <a:r>
              <a:t>Drive Train</a:t>
            </a:r>
          </a:p>
          <a:p>
            <a:pPr>
              <a:spcAft>
                <a:spcPts val="1000"/>
              </a:spcAft>
              <a:defRPr sz="1800">
                <a:solidFill>
                  <a:srgbClr val="151A20"/>
                </a:solidFill>
                <a:latin typeface="Aptos"/>
              </a:defRPr>
            </a:pPr>
            <a:r>
              <a:t>Main Drive Motor</a:t>
            </a:r>
          </a:p>
          <a:p>
            <a:pPr>
              <a:spcAft>
                <a:spcPts val="1000"/>
              </a:spcAft>
              <a:defRPr sz="1800">
                <a:solidFill>
                  <a:srgbClr val="151A20"/>
                </a:solidFill>
                <a:latin typeface="Aptos"/>
              </a:defRPr>
            </a:pPr>
            <a:r>
              <a:t>Drive-End Bearing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Deep Visual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B7A"/>
                </a:solidFill>
                <a:latin typeface="Aptos"/>
              </a:defRPr>
            </a:pPr>
            <a:r>
              <a:t>Drill, visualize and inspect the exact engineering context of a maintainable item</a:t>
            </a:r>
          </a:p>
        </p:txBody>
      </p:sp>
      <p:pic>
        <p:nvPicPr>
          <p:cNvPr id="5" name="Picture 4" descr="08-visual-explorer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411" y="1143000"/>
            <a:ext cx="7210697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Corrective Repairs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B7A"/>
                </a:solidFill>
                <a:latin typeface="Aptos"/>
              </a:defRPr>
            </a:pPr>
            <a:r>
              <a:t>Controlled from defect intake through verified closure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65960"/>
            <a:ext cx="1478715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Request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90195" y="242316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54787" y="1965960"/>
            <a:ext cx="1478715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Review / convert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33502" y="242316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98094" y="1965960"/>
            <a:ext cx="1478715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Plan &amp; approve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76810" y="242316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41402" y="1965960"/>
            <a:ext cx="1478715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Execute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20117" y="242316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84709" y="1965960"/>
            <a:ext cx="1478715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Materials / tools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63425" y="242316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28017" y="1965960"/>
            <a:ext cx="1478715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Complete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06732" y="242316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271324" y="1965960"/>
            <a:ext cx="1478715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Review &amp; close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10424160" cy="2011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51A20"/>
                </a:solidFill>
                <a:latin typeface="Aptos"/>
              </a:defRPr>
            </a:pPr>
            <a:r>
              <a:t>The work order is the traceability hub</a:t>
            </a:r>
          </a:p>
          <a:p>
            <a:pPr>
              <a:spcAft>
                <a:spcPts val="1000"/>
              </a:spcAft>
              <a:defRPr sz="1700">
                <a:solidFill>
                  <a:srgbClr val="151A20"/>
                </a:solidFill>
                <a:latin typeface="Aptos"/>
              </a:defRPr>
            </a:pPr>
            <a:r>
              <a:t>Time, downtime, people, tasks, evidence and resource usage remain attached</a:t>
            </a:r>
          </a:p>
          <a:p>
            <a:pPr>
              <a:spcAft>
                <a:spcPts val="1000"/>
              </a:spcAft>
              <a:defRPr sz="1700">
                <a:solidFill>
                  <a:srgbClr val="151A20"/>
                </a:solidFill>
                <a:latin typeface="Aptos"/>
              </a:defRPr>
            </a:pPr>
            <a:r>
              <a:t>Closed history supports reliability and cost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1. Maintenance Request - controlled defect intake</a:t>
            </a:r>
          </a:p>
        </p:txBody>
      </p:sp>
      <p:pic>
        <p:nvPicPr>
          <p:cNvPr id="4" name="Picture 3" descr="09-repair-requests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411" y="1143000"/>
            <a:ext cx="7210697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2. Repair Work Order - planning and execution authority</a:t>
            </a:r>
          </a:p>
        </p:txBody>
      </p:sp>
      <p:pic>
        <p:nvPicPr>
          <p:cNvPr id="4" name="Picture 3" descr="10-repair-work-orders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411" y="1143000"/>
            <a:ext cx="7210697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3. Material &amp; spare-part custody</a:t>
            </a:r>
          </a:p>
        </p:txBody>
      </p:sp>
      <p:pic>
        <p:nvPicPr>
          <p:cNvPr id="4" name="Picture 3" descr="11-material-requests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411" y="1143000"/>
            <a:ext cx="7210697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4. Tool custody and damaged-tool control</a:t>
            </a:r>
          </a:p>
        </p:txBody>
      </p:sp>
      <p:pic>
        <p:nvPicPr>
          <p:cNvPr id="4" name="Picture 3" descr="12-tool-requests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411" y="1143000"/>
            <a:ext cx="7210697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5. Completion &amp; 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B7A"/>
                </a:solidFill>
                <a:latin typeface="Aptos"/>
              </a:defRPr>
            </a:pPr>
            <a:r>
              <a:t>Technician completion is reviewed before final work-order closure</a:t>
            </a:r>
          </a:p>
        </p:txBody>
      </p:sp>
      <p:pic>
        <p:nvPicPr>
          <p:cNvPr id="5" name="Picture 4" descr="13-completion-cl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411" y="1143000"/>
            <a:ext cx="7210697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Preventive Maintenance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B7A"/>
                </a:solidFill>
                <a:latin typeface="Aptos"/>
              </a:defRPr>
            </a:pPr>
            <a:r>
              <a:t>Standardized work before failure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20240"/>
            <a:ext cx="1478715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PM template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90195" y="237744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54787" y="1920240"/>
            <a:ext cx="1478715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Schedule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33502" y="237744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98094" y="1920240"/>
            <a:ext cx="1478715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Select asset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76810" y="237744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41402" y="1920240"/>
            <a:ext cx="1478715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Exact target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20117" y="237744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84709" y="1920240"/>
            <a:ext cx="1478715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51A20"/>
                </a:solidFill>
              </a:defRPr>
            </a:pPr>
            <a:r>
              <a:t>Time / meter trigger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63425" y="237744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28017" y="1920240"/>
            <a:ext cx="1478715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Auto WO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06732" y="237744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271324" y="1920240"/>
            <a:ext cx="1478715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Execute &amp; close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29000"/>
            <a:ext cx="10424160" cy="2194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51A20"/>
                </a:solidFill>
                <a:latin typeface="Aptos"/>
              </a:defRPr>
            </a:pPr>
            <a:r>
              <a:t>Same hierarchy used by Repairs</a:t>
            </a:r>
          </a:p>
          <a:p>
            <a:pPr>
              <a:spcAft>
                <a:spcPts val="1000"/>
              </a:spcAft>
              <a:defRPr sz="1700">
                <a:solidFill>
                  <a:srgbClr val="151A20"/>
                </a:solidFill>
                <a:latin typeface="Aptos"/>
              </a:defRPr>
            </a:pPr>
            <a:r>
              <a:t>Templates standardize checklists</a:t>
            </a:r>
          </a:p>
          <a:p>
            <a:pPr>
              <a:spcAft>
                <a:spcPts val="1000"/>
              </a:spcAft>
              <a:defRPr sz="1700">
                <a:solidFill>
                  <a:srgbClr val="151A20"/>
                </a:solidFill>
                <a:latin typeface="Aptos"/>
              </a:defRPr>
            </a:pPr>
            <a:r>
              <a:t>Schedules can be time-based or meter-based</a:t>
            </a:r>
          </a:p>
          <a:p>
            <a:pPr>
              <a:spcAft>
                <a:spcPts val="1000"/>
              </a:spcAft>
              <a:defRPr sz="1700">
                <a:solidFill>
                  <a:srgbClr val="151A20"/>
                </a:solidFill>
                <a:latin typeface="Aptos"/>
              </a:defRPr>
            </a:pPr>
            <a:r>
              <a:t>Generated PM work orders retain parent asset + exact component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PM Templates - standardized maintenance content</a:t>
            </a:r>
          </a:p>
        </p:txBody>
      </p:sp>
      <p:pic>
        <p:nvPicPr>
          <p:cNvPr id="4" name="Picture 3" descr="17-pm-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411" y="1143000"/>
            <a:ext cx="7210697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Create PM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B7A"/>
                </a:solidFill>
                <a:latin typeface="Aptos"/>
              </a:defRPr>
            </a:pPr>
            <a:r>
              <a:t>Choose cadence, priority, assignee, template and auto-generation rules</a:t>
            </a:r>
          </a:p>
        </p:txBody>
      </p:sp>
      <p:pic>
        <p:nvPicPr>
          <p:cNvPr id="5" name="Picture 4" descr="15-pm-new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411" y="1143000"/>
            <a:ext cx="7210697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PM exact-target Visual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B7A"/>
                </a:solidFill>
                <a:latin typeface="Aptos"/>
              </a:defRPr>
            </a:pPr>
            <a:r>
              <a:t>Drill to the assembly, subassembly, component or part and Confirm Selection</a:t>
            </a:r>
          </a:p>
        </p:txBody>
      </p:sp>
      <p:pic>
        <p:nvPicPr>
          <p:cNvPr id="5" name="Picture 4" descr="16-pm-target-explorer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411" y="1143000"/>
            <a:ext cx="7210697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PM Schedules and compliance control</a:t>
            </a:r>
          </a:p>
        </p:txBody>
      </p:sp>
      <p:pic>
        <p:nvPicPr>
          <p:cNvPr id="4" name="Picture 3" descr="14-pm-schedules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411" y="1143000"/>
            <a:ext cx="7210697" cy="5257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PM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B7A"/>
                </a:solidFill>
                <a:latin typeface="Aptos"/>
              </a:defRPr>
            </a:pPr>
            <a:r>
              <a:t>Visual planning of upcoming preventive maintenance workload</a:t>
            </a:r>
          </a:p>
        </p:txBody>
      </p:sp>
      <p:pic>
        <p:nvPicPr>
          <p:cNvPr id="5" name="Picture 4" descr="18-pm-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411" y="1143000"/>
            <a:ext cx="7210697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Inventory quality and maintenance custody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B7A"/>
                </a:solidFill>
                <a:latin typeface="Aptos"/>
              </a:defRPr>
            </a:pPr>
            <a:r>
              <a:t>Condition-aware returns protect the integrity of usable stock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752600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Issue to WO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64080" y="228600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28672" y="1828800"/>
            <a:ext cx="1752600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Use / inspect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81272" y="228600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45864" y="1828800"/>
            <a:ext cx="1752600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Serviceable return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98464" y="228600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63056" y="1828800"/>
            <a:ext cx="1752600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51A20"/>
                </a:solidFill>
              </a:defRPr>
            </a:pPr>
            <a:r>
              <a:t>Defective quarantine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15656" y="2286000"/>
            <a:ext cx="164591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80247" y="1828800"/>
            <a:ext cx="1752600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Repair / refurbish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32847" y="228600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97440" y="1828800"/>
            <a:ext cx="1752600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51A20"/>
                </a:solidFill>
              </a:defRPr>
            </a:pPr>
            <a:r>
              <a:t>QC accept / supplier / scrap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10424160" cy="23774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1A20"/>
                </a:solidFill>
                <a:latin typeface="Aptos"/>
              </a:defRPr>
            </a:pPr>
            <a:r>
              <a:t>Serviceable returns can re-enter usable stock</a:t>
            </a:r>
          </a:p>
          <a:p>
            <a:pPr>
              <a:spcAft>
                <a:spcPts val="1000"/>
              </a:spcAft>
              <a:defRPr sz="1600">
                <a:solidFill>
                  <a:srgbClr val="151A20"/>
                </a:solidFill>
                <a:latin typeface="Aptos"/>
              </a:defRPr>
            </a:pPr>
            <a:r>
              <a:t>Damaged/defective material returns enter inspection custody</a:t>
            </a:r>
          </a:p>
          <a:p>
            <a:pPr>
              <a:spcAft>
                <a:spcPts val="1000"/>
              </a:spcAft>
              <a:defRPr sz="1600">
                <a:solidFill>
                  <a:srgbClr val="151A20"/>
                </a:solidFill>
                <a:latin typeface="Aptos"/>
              </a:defRPr>
            </a:pPr>
            <a:r>
              <a:t>Damaged tools remain unavailable until repair + QC acceptance</a:t>
            </a:r>
          </a:p>
          <a:p>
            <a:pPr>
              <a:spcAft>
                <a:spcPts val="1000"/>
              </a:spcAft>
              <a:defRPr sz="1600">
                <a:solidFill>
                  <a:srgbClr val="151A20"/>
                </a:solidFill>
                <a:latin typeface="Aptos"/>
              </a:defRPr>
            </a:pPr>
            <a:r>
              <a:t>Receiving quality hold supports supplier return and replacement quantity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Governance and enterprise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297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51A20"/>
                </a:solidFill>
                <a:latin typeface="Aptos"/>
              </a:defRPr>
            </a:pPr>
            <a:r>
              <a:t>Role-based access for operator, planner, supervisor, technician, store and administration</a:t>
            </a:r>
          </a:p>
          <a:p>
            <a:pPr>
              <a:spcAft>
                <a:spcPts val="1000"/>
              </a:spcAft>
              <a:defRPr sz="1800">
                <a:solidFill>
                  <a:srgbClr val="151A20"/>
                </a:solidFill>
                <a:latin typeface="Aptos"/>
              </a:defRPr>
            </a:pPr>
            <a:r>
              <a:t>Plant-aware authorization and audit trail</a:t>
            </a:r>
          </a:p>
          <a:p>
            <a:pPr>
              <a:spcAft>
                <a:spcPts val="1000"/>
              </a:spcAft>
              <a:defRPr sz="1800">
                <a:solidFill>
                  <a:srgbClr val="151A20"/>
                </a:solidFill>
                <a:latin typeface="Aptos"/>
              </a:defRPr>
            </a:pPr>
            <a:r>
              <a:t>PostgreSQL transactional persistence</a:t>
            </a:r>
          </a:p>
          <a:p>
            <a:pPr>
              <a:spcAft>
                <a:spcPts val="1000"/>
              </a:spcAft>
              <a:defRPr sz="1800">
                <a:solidFill>
                  <a:srgbClr val="151A20"/>
                </a:solidFill>
                <a:latin typeface="Aptos"/>
              </a:defRPr>
            </a:pPr>
            <a:r>
              <a:t>Redis/BullMQ background processing and operational queues</a:t>
            </a:r>
          </a:p>
          <a:p>
            <a:pPr>
              <a:spcAft>
                <a:spcPts val="1000"/>
              </a:spcAft>
              <a:defRPr sz="1800">
                <a:solidFill>
                  <a:srgbClr val="151A20"/>
                </a:solidFill>
                <a:latin typeface="Aptos"/>
              </a:defRPr>
            </a:pPr>
            <a:r>
              <a:t>Offline/sync architecture for intermittent-connectivity operations</a:t>
            </a:r>
          </a:p>
          <a:p>
            <a:pPr>
              <a:spcAft>
                <a:spcPts val="1000"/>
              </a:spcAft>
              <a:defRPr sz="1800">
                <a:solidFill>
                  <a:srgbClr val="151A20"/>
                </a:solidFill>
                <a:latin typeface="Aptos"/>
              </a:defRPr>
            </a:pPr>
            <a:r>
              <a:t>Automated lint, unit, build, container, platform E2E and Repairs UAT release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Release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F1ED"/>
                </a:solidFill>
                <a:latin typeface="Aptos"/>
              </a:defRPr>
            </a:pPr>
            <a:r>
              <a:t>The demonstrated PM/runtime release passed the full Required CI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754880" cy="4297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1ED"/>
                </a:solidFill>
                <a:latin typeface="Aptos"/>
              </a:defRPr>
            </a:pPr>
            <a:r>
              <a:t>Lint ✓</a:t>
            </a:r>
          </a:p>
          <a:p>
            <a:pPr>
              <a:spcAft>
                <a:spcPts val="1000"/>
              </a:spcAft>
              <a:defRPr sz="1800">
                <a:solidFill>
                  <a:srgbClr val="E8F1ED"/>
                </a:solidFill>
                <a:latin typeface="Aptos"/>
              </a:defRPr>
            </a:pPr>
            <a:r>
              <a:t>Repairs TypeScript hard gate ✓</a:t>
            </a:r>
          </a:p>
          <a:p>
            <a:pPr>
              <a:spcAft>
                <a:spcPts val="1000"/>
              </a:spcAft>
              <a:defRPr sz="1800">
                <a:solidFill>
                  <a:srgbClr val="E8F1ED"/>
                </a:solidFill>
                <a:latin typeface="Aptos"/>
              </a:defRPr>
            </a:pPr>
            <a:r>
              <a:t>Full Vitest unit suite ✓</a:t>
            </a:r>
          </a:p>
          <a:p>
            <a:pPr>
              <a:spcAft>
                <a:spcPts val="1000"/>
              </a:spcAft>
              <a:defRPr sz="1800">
                <a:solidFill>
                  <a:srgbClr val="E8F1ED"/>
                </a:solidFill>
                <a:latin typeface="Aptos"/>
              </a:defRPr>
            </a:pPr>
            <a:r>
              <a:t>Optimized production build + container build ✓</a:t>
            </a:r>
          </a:p>
          <a:p>
            <a:pPr>
              <a:spcAft>
                <a:spcPts val="1000"/>
              </a:spcAft>
              <a:defRPr sz="1800">
                <a:solidFill>
                  <a:srgbClr val="E8F1ED"/>
                </a:solidFill>
                <a:latin typeface="Aptos"/>
              </a:defRPr>
            </a:pPr>
            <a:r>
              <a:t>Platform Playwright E2E ✓</a:t>
            </a:r>
          </a:p>
          <a:p>
            <a:pPr>
              <a:spcAft>
                <a:spcPts val="1000"/>
              </a:spcAft>
              <a:defRPr sz="1800">
                <a:solidFill>
                  <a:srgbClr val="E8F1ED"/>
                </a:solidFill>
                <a:latin typeface="Aptos"/>
              </a:defRPr>
            </a:pPr>
            <a:r>
              <a:t>Repairs/RWOP Playwright UAT ✓</a:t>
            </a:r>
          </a:p>
          <a:p>
            <a:pPr>
              <a:spcAft>
                <a:spcPts val="1000"/>
              </a:spcAft>
              <a:defRPr sz="1800">
                <a:solidFill>
                  <a:srgbClr val="E8F1ED"/>
                </a:solidFill>
                <a:latin typeface="Aptos"/>
              </a:defRPr>
            </a:pPr>
            <a:r>
              <a:t>Required CI Gate ✓</a:t>
            </a:r>
          </a:p>
        </p:txBody>
      </p:sp>
      <p:pic>
        <p:nvPicPr>
          <p:cNvPr id="6" name="Picture 5" descr="14-pm-schedules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310" y="1417320"/>
            <a:ext cx="5831259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A20"/>
                </a:solidFill>
                <a:latin typeface="Aptos Display"/>
              </a:defRPr>
            </a:pPr>
            <a:r>
              <a:t>Live demo route for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B7A"/>
                </a:solidFill>
                <a:latin typeface="Aptos"/>
              </a:defRPr>
            </a:pPr>
            <a:r>
              <a:t>A 12-15 minute story that shows value, not menus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20240"/>
            <a:ext cx="1478715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1. Add Asset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90195" y="237744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54787" y="1920240"/>
            <a:ext cx="1478715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2. Drill hierarchy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33502" y="237744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98094" y="1920240"/>
            <a:ext cx="1478715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3. Raise defect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76810" y="237744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41402" y="1920240"/>
            <a:ext cx="1478715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4. Open WO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20117" y="237744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84709" y="1920240"/>
            <a:ext cx="1478715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5. Materials/tools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63425" y="237744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28017" y="1920240"/>
            <a:ext cx="1478715" cy="914400"/>
          </a:xfrm>
          <a:prstGeom prst="roundRect">
            <a:avLst/>
          </a:prstGeom>
          <a:solidFill>
            <a:srgbClr val="EFF3F7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51A20"/>
                </a:solidFill>
              </a:defRPr>
            </a:pPr>
            <a:r>
              <a:t>6. Create PM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06732" y="2377440"/>
            <a:ext cx="164592" cy="0"/>
          </a:xfrm>
          <a:prstGeom prst="line">
            <a:avLst/>
          </a:prstGeom>
          <a:ln w="25400">
            <a:solidFill>
              <a:srgbClr val="009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271324" y="1920240"/>
            <a:ext cx="1478715" cy="914400"/>
          </a:xfrm>
          <a:prstGeom prst="roundRect">
            <a:avLst/>
          </a:prstGeom>
          <a:solidFill>
            <a:srgbClr val="EAF7F2"/>
          </a:solidFill>
          <a:ln>
            <a:solidFill>
              <a:srgbClr val="00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51A20"/>
                </a:solidFill>
              </a:defRPr>
            </a:pPr>
            <a:r>
              <a:t>7. Select exact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10424160" cy="1828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51A20"/>
                </a:solidFill>
                <a:latin typeface="Aptos"/>
              </a:defRPr>
            </a:pPr>
            <a:r>
              <a:t>Close by showing PM calendar/compliance and explaining the single traceable history from machine to part.</a:t>
            </a:r>
          </a:p>
          <a:p>
            <a:pPr>
              <a:spcAft>
                <a:spcPts val="1000"/>
              </a:spcAft>
              <a:defRPr sz="1700">
                <a:solidFill>
                  <a:srgbClr val="151A20"/>
                </a:solidFill>
                <a:latin typeface="Aptos"/>
              </a:defRPr>
            </a:pPr>
            <a:r>
              <a:t>Keep this deck/PDF available offline as presentation backup.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9C99A"/>
                </a:solidFill>
              </a:defRPr>
            </a:pPr>
            <a:r>
              <a:t>iAssetsPro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From asset structure to controlled maintenance execution.</a:t>
            </a:r>
          </a:p>
          <a:p>
            <a:pPr algn="ctr">
              <a:defRPr sz="1800">
                <a:solidFill>
                  <a:srgbClr val="C7D6D0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5624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B8794"/>
                </a:solidFill>
              </a:defRPr>
            </a:pPr>
            <a:r>
              <a:t>iAssetsPro EAM  |  Lightworld Technologies Ltd                                          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